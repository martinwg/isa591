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301" r:id="rId2"/>
    <p:sldId id="265" r:id="rId3"/>
    <p:sldId id="417" r:id="rId4"/>
    <p:sldId id="433" r:id="rId5"/>
    <p:sldId id="434" r:id="rId6"/>
    <p:sldId id="435" r:id="rId7"/>
    <p:sldId id="436" r:id="rId8"/>
    <p:sldId id="437" r:id="rId9"/>
    <p:sldId id="440" r:id="rId10"/>
    <p:sldId id="438" r:id="rId11"/>
    <p:sldId id="439" r:id="rId12"/>
    <p:sldId id="441" r:id="rId13"/>
    <p:sldId id="442" r:id="rId14"/>
    <p:sldId id="443" r:id="rId15"/>
    <p:sldId id="444" r:id="rId16"/>
    <p:sldId id="445" r:id="rId17"/>
    <p:sldId id="446" r:id="rId18"/>
    <p:sldId id="447" r:id="rId19"/>
    <p:sldId id="329" r:id="rId20"/>
    <p:sldId id="428" r:id="rId21"/>
  </p:sldIdLst>
  <p:sldSz cx="12192000" cy="6858000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Lato Light" panose="020F0302020204030204" pitchFamily="34" charset="0"/>
      <p:regular r:id="rId27"/>
      <p:bold r:id="rId28"/>
      <p:italic r:id="rId29"/>
      <p:boldItalic r:id="rId30"/>
    </p:embeddedFont>
    <p:embeddedFont>
      <p:font typeface="Roboto Slab" pitchFamily="2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h8+V1nZDCJuCgwzr3Qy4Uygyy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7C074C-A82D-4799-AD4D-ECD6B58B4DEF}">
  <a:tblStyle styleId="{947C074C-A82D-4799-AD4D-ECD6B58B4DEF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6E7"/>
          </a:solidFill>
        </a:fill>
      </a:tcStyle>
    </a:wholeTbl>
    <a:band1H>
      <a:tcTxStyle/>
      <a:tcStyle>
        <a:tcBdr/>
        <a:fill>
          <a:solidFill>
            <a:srgbClr val="EA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A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section headers to chunk content in your presentation.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the same style of section header throughout your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0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2294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9779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3184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2912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F6EF849A-6564-286A-0015-1754631E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>
            <a:extLst>
              <a:ext uri="{FF2B5EF4-FFF2-40B4-BE49-F238E27FC236}">
                <a16:creationId xmlns:a16="http://schemas.microsoft.com/office/drawing/2014/main" id="{7500F9B0-3DBB-2640-986C-C4508E7B2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>
            <a:extLst>
              <a:ext uri="{FF2B5EF4-FFF2-40B4-BE49-F238E27FC236}">
                <a16:creationId xmlns:a16="http://schemas.microsoft.com/office/drawing/2014/main" id="{3E62D894-04B0-7FBD-FEBA-7EFA5C853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352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37A7D39E-590C-D7D3-8551-7C89BB06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6B7147ED-A2D8-9483-7713-0856B46CB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72B20F02-3F32-1FC0-8E1A-78375AAFE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7195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BDC26C32-0402-48C6-E96E-1AB303AD8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36954F74-9682-1D26-886D-8F1D2E3D9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540115C7-DA2F-07CB-273F-3F7A3F07F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4627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A697912E-5987-9EBB-10CE-457B6ADB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>
            <a:extLst>
              <a:ext uri="{FF2B5EF4-FFF2-40B4-BE49-F238E27FC236}">
                <a16:creationId xmlns:a16="http://schemas.microsoft.com/office/drawing/2014/main" id="{A7734FCB-D7C8-C82A-C0AC-860324196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>
            <a:extLst>
              <a:ext uri="{FF2B5EF4-FFF2-40B4-BE49-F238E27FC236}">
                <a16:creationId xmlns:a16="http://schemas.microsoft.com/office/drawing/2014/main" id="{BCF5F4DD-8DD6-798C-C6D6-73D7A57B2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986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04C39A2E-1CC9-FDF7-D97A-26D9A152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7135967E-C954-0444-6DF4-EBCAE35D8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5D08134C-616D-FD23-45BA-28AF61158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9943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390FAE77-ECA8-C050-0A7F-DED0C677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>
            <a:extLst>
              <a:ext uri="{FF2B5EF4-FFF2-40B4-BE49-F238E27FC236}">
                <a16:creationId xmlns:a16="http://schemas.microsoft.com/office/drawing/2014/main" id="{BE49C4C3-E463-12E7-2473-BD2F39D0D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>
            <a:extLst>
              <a:ext uri="{FF2B5EF4-FFF2-40B4-BE49-F238E27FC236}">
                <a16:creationId xmlns:a16="http://schemas.microsoft.com/office/drawing/2014/main" id="{E69D0B39-48BC-F0A7-847C-3CF559CAD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6716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0AC37653-31FD-5D70-3A68-B3004CE32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5F8B4264-1C8C-1616-D2A3-0B0DEEA006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62B6EE9D-3992-E7E0-AF94-220FCBA9CE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5546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7FEF4BD5-D02C-AD33-220D-B9CF7567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>
            <a:extLst>
              <a:ext uri="{FF2B5EF4-FFF2-40B4-BE49-F238E27FC236}">
                <a16:creationId xmlns:a16="http://schemas.microsoft.com/office/drawing/2014/main" id="{3EC73944-61DB-D483-0B77-02FF689E8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>
            <a:extLst>
              <a:ext uri="{FF2B5EF4-FFF2-40B4-BE49-F238E27FC236}">
                <a16:creationId xmlns:a16="http://schemas.microsoft.com/office/drawing/2014/main" id="{0B66ACEA-B0CC-353E-7087-FB9BD9AB98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632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EFF4EA60-4CBD-4D51-45EA-823F2FB1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7476A727-7ECB-3F60-A067-E45AA8B198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30F214D6-DACE-1A5A-624A-A469DD14D8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980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6486A672-D67B-3460-3FAB-720AE855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>
            <a:extLst>
              <a:ext uri="{FF2B5EF4-FFF2-40B4-BE49-F238E27FC236}">
                <a16:creationId xmlns:a16="http://schemas.microsoft.com/office/drawing/2014/main" id="{4A9E7879-971A-E1AB-7860-4115E3F7F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>
            <a:extLst>
              <a:ext uri="{FF2B5EF4-FFF2-40B4-BE49-F238E27FC236}">
                <a16:creationId xmlns:a16="http://schemas.microsoft.com/office/drawing/2014/main" id="{307FB464-25AC-BA73-E514-51457BB36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149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D8358889-F642-C13D-99F1-9C0C4B80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>
            <a:extLst>
              <a:ext uri="{FF2B5EF4-FFF2-40B4-BE49-F238E27FC236}">
                <a16:creationId xmlns:a16="http://schemas.microsoft.com/office/drawing/2014/main" id="{8733CEA7-AA24-2617-FCF0-388884376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>
            <a:extLst>
              <a:ext uri="{FF2B5EF4-FFF2-40B4-BE49-F238E27FC236}">
                <a16:creationId xmlns:a16="http://schemas.microsoft.com/office/drawing/2014/main" id="{5B86C4D5-290E-D162-1CC2-2111CA8C6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8254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065B9019-FF3F-98F8-479A-945EA6ED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>
            <a:extLst>
              <a:ext uri="{FF2B5EF4-FFF2-40B4-BE49-F238E27FC236}">
                <a16:creationId xmlns:a16="http://schemas.microsoft.com/office/drawing/2014/main" id="{D960AFD9-30F6-6E7F-AF74-8E3778B7D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>
            <a:extLst>
              <a:ext uri="{FF2B5EF4-FFF2-40B4-BE49-F238E27FC236}">
                <a16:creationId xmlns:a16="http://schemas.microsoft.com/office/drawing/2014/main" id="{728534A5-C091-77BB-643F-0B0FD7D5CB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8449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0246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733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3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_White">
  <p:cSld name="6_Title Slide_Whit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4"/>
          <p:cNvSpPr txBox="1">
            <a:spLocks noGrp="1"/>
          </p:cNvSpPr>
          <p:nvPr>
            <p:ph type="ctrTitle"/>
          </p:nvPr>
        </p:nvSpPr>
        <p:spPr>
          <a:xfrm>
            <a:off x="1524000" y="2618133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subTitle" idx="1"/>
          </p:nvPr>
        </p:nvSpPr>
        <p:spPr>
          <a:xfrm>
            <a:off x="1524000" y="423505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54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61" name="Google Shape;6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4092" y="1369995"/>
            <a:ext cx="1016000" cy="110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_Red">
  <p:cSld name="2_Section Header_Red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4" name="Google Shape;144;p6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2000"/>
              <a:buNone/>
              <a:defRPr sz="2000">
                <a:solidFill>
                  <a:srgbClr val="D5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800"/>
              <a:buNone/>
              <a:defRPr sz="1800">
                <a:solidFill>
                  <a:srgbClr val="D5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8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_Red">
  <p:cSld name="8_Title Slide_Red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0" name="Google Shape;70;p56"/>
          <p:cNvSpPr txBox="1">
            <a:spLocks noGrp="1"/>
          </p:cNvSpPr>
          <p:nvPr>
            <p:ph type="ctrTitle"/>
          </p:nvPr>
        </p:nvSpPr>
        <p:spPr>
          <a:xfrm>
            <a:off x="1524000" y="2618133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  <a:defRPr sz="4800" b="0">
                <a:solidFill>
                  <a:schemeClr val="accent6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6"/>
          <p:cNvSpPr txBox="1">
            <a:spLocks noGrp="1"/>
          </p:cNvSpPr>
          <p:nvPr>
            <p:ph type="subTitle" idx="1"/>
          </p:nvPr>
        </p:nvSpPr>
        <p:spPr>
          <a:xfrm>
            <a:off x="1524000" y="423505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56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73" name="Google Shape;73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6953" y="1421961"/>
            <a:ext cx="750278" cy="10572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338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  <a:defRPr sz="44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9" name="Google Shape;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0" name="Google Shape;1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1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</a:pPr>
            <a:r>
              <a:rPr lang="en-US" dirty="0"/>
              <a:t>Module 2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Exploratory Data Analysis (EDA)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D9405-87A7-F83C-5789-BC0A8AB5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998306"/>
            <a:ext cx="1714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ctrTitle"/>
          </p:nvPr>
        </p:nvSpPr>
        <p:spPr>
          <a:xfrm>
            <a:off x="721895" y="2095336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EDA – Summaries and Basic Plots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2EC81B-2538-4541-B8A0-574790F60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93" y="2582779"/>
            <a:ext cx="5123981" cy="50211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Purpose of Exploratory Data Analysis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Analyzing variables individually (univariate)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Number of variables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Categorical variables with too many levels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Categorical variables with 1 level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% of missing values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Summary statistics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Data shapes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Variable types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Variables to remove for irrelevance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Extreme values</a:t>
            </a:r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598F7-72E0-46A0-AF1C-83801D9C9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189" y="918410"/>
            <a:ext cx="5123981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74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Purpose of Exploratory Data Analysis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Analyzing joint relationships (multivariate)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Relationships with response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dirty="0"/>
              <a:t>Multi-collinearity</a:t>
            </a:r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2052" name="Picture 4" descr="How to visualise correlations using Pandas and Seaborn">
            <a:extLst>
              <a:ext uri="{FF2B5EF4-FFF2-40B4-BE49-F238E27FC236}">
                <a16:creationId xmlns:a16="http://schemas.microsoft.com/office/drawing/2014/main" id="{6A5BBAD0-A9DE-4C1E-805B-64098CFA7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950" y="3182353"/>
            <a:ext cx="5237681" cy="349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22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Veterans Data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A national veterans’ organization seeks to better target its solicitations for donation.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Goal: solicit the most likely donors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Solicitations involve sending a small gift 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The organization has more than 3.5 million individuals in database</a:t>
            </a:r>
          </a:p>
        </p:txBody>
      </p:sp>
      <p:pic>
        <p:nvPicPr>
          <p:cNvPr id="4098" name="Picture 2" descr="State Charitable Registration When Soliciting Donations Online">
            <a:extLst>
              <a:ext uri="{FF2B5EF4-FFF2-40B4-BE49-F238E27FC236}">
                <a16:creationId xmlns:a16="http://schemas.microsoft.com/office/drawing/2014/main" id="{CBFBBFB1-519C-455F-AB69-6B8BC7070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95" y="4074695"/>
            <a:ext cx="3226832" cy="241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4434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Veterans Data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966537" y="1892754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Dataset: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8D877-7CB3-4289-9F55-4398DFB42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47" y="3747581"/>
            <a:ext cx="8601075" cy="1609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651FCD-8FC5-4073-BD24-E8FC08E00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705" y="2374643"/>
            <a:ext cx="6709488" cy="137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5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F83CB183-4EB5-00C6-1FE6-C1BBCC7A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>
            <a:extLst>
              <a:ext uri="{FF2B5EF4-FFF2-40B4-BE49-F238E27FC236}">
                <a16:creationId xmlns:a16="http://schemas.microsoft.com/office/drawing/2014/main" id="{58D94D3D-A82A-6734-10D5-FE485D9230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1895" y="2095336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Correcting Variable Types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AFB6C-5EAC-F989-414D-392B37E76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93" y="2582779"/>
            <a:ext cx="5123981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1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95970B91-ED42-0E0A-BF8D-39D4FB71F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15FDEBED-7A75-361C-D8E5-55D033775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Variable Types Check</a:t>
            </a:r>
            <a:endParaRPr dirty="0"/>
          </a:p>
        </p:txBody>
      </p:sp>
      <p:sp>
        <p:nvSpPr>
          <p:cNvPr id="251" name="Google Shape;251;p1">
            <a:extLst>
              <a:ext uri="{FF2B5EF4-FFF2-40B4-BE49-F238E27FC236}">
                <a16:creationId xmlns:a16="http://schemas.microsoft.com/office/drawing/2014/main" id="{B6032E15-7A76-68D6-AE94-6F375FF60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047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Check that each variable is stored in the appropriate data type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Numeric → int or float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Categorical → object / category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Dates → datetime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Common problems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$45,000 stored as object or text instead of numeric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Category codes such as 1, 2, 3 treated as continuous numbers</a:t>
            </a:r>
          </a:p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b="1" dirty="0"/>
              <a:t>Example from Veterans data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 err="1"/>
              <a:t>DemMedIncome</a:t>
            </a:r>
            <a:r>
              <a:rPr lang="en-US" dirty="0"/>
              <a:t>: remove $ and convert to numeric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 err="1"/>
              <a:t>DemCluster</a:t>
            </a:r>
            <a:r>
              <a:rPr lang="en-US" dirty="0"/>
              <a:t>: numeric codes represent </a:t>
            </a:r>
            <a:r>
              <a:rPr lang="en-US" b="1" dirty="0"/>
              <a:t>categories</a:t>
            </a:r>
            <a:r>
              <a:rPr lang="en-US" dirty="0"/>
              <a:t>, so treat as categorical</a:t>
            </a:r>
          </a:p>
        </p:txBody>
      </p:sp>
    </p:spTree>
    <p:extLst>
      <p:ext uri="{BB962C8B-B14F-4D97-AF65-F5344CB8AC3E}">
        <p14:creationId xmlns:p14="http://schemas.microsoft.com/office/powerpoint/2010/main" val="4281071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67848784-93FF-76B2-B742-F25A0B2E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75B32298-210E-22D1-3A60-C10DC6D63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Outliers / Anomalies</a:t>
            </a:r>
            <a:endParaRPr dirty="0"/>
          </a:p>
        </p:txBody>
      </p:sp>
      <p:sp>
        <p:nvSpPr>
          <p:cNvPr id="251" name="Google Shape;251;p1">
            <a:extLst>
              <a:ext uri="{FF2B5EF4-FFF2-40B4-BE49-F238E27FC236}">
                <a16:creationId xmlns:a16="http://schemas.microsoft.com/office/drawing/2014/main" id="{0F2F0E9C-ECA0-C876-733F-34388E79D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047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Check that each variable is stored in the appropriate data type</a:t>
            </a:r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093B83CA-F6C7-EED2-29B1-E769B5AD5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47" y="2430324"/>
            <a:ext cx="7772400" cy="353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5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9957A2F5-8E7D-5CCB-7D1E-633DEC3A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>
            <a:extLst>
              <a:ext uri="{FF2B5EF4-FFF2-40B4-BE49-F238E27FC236}">
                <a16:creationId xmlns:a16="http://schemas.microsoft.com/office/drawing/2014/main" id="{6943381F-F3A7-730A-9CDF-489D03E91C9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1895" y="2095336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Numeric Variable Summaries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AF17E0-9AA2-3986-70A9-7BA8A6B5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93" y="2582779"/>
            <a:ext cx="5123981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06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D8A270AD-7FC3-1AD4-C75D-B3494E3E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23931B97-3EA2-E651-8D89-A38E54FCFB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Summaries of Numeric Variables</a:t>
            </a:r>
            <a:endParaRPr dirty="0"/>
          </a:p>
        </p:txBody>
      </p:sp>
      <p:sp>
        <p:nvSpPr>
          <p:cNvPr id="251" name="Google Shape;251;p1">
            <a:extLst>
              <a:ext uri="{FF2B5EF4-FFF2-40B4-BE49-F238E27FC236}">
                <a16:creationId xmlns:a16="http://schemas.microsoft.com/office/drawing/2014/main" id="{A9433FD7-685D-7C93-1BF3-2AA04693C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047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Summarize the data</a:t>
            </a:r>
            <a:endParaRPr lang="en-US" dirty="0"/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Mean, median, standard deviation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Min, max, and quartiles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Examine distributions</a:t>
            </a:r>
            <a:endParaRPr lang="en-US" dirty="0"/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Histograms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Boxplots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Look for potential issues</a:t>
            </a:r>
            <a:endParaRPr lang="en-US" dirty="0"/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Skewness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Unusual/extreme values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Unexpected zeros or ranges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Missing values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Goal:</a:t>
            </a:r>
            <a:r>
              <a:rPr lang="en-US" dirty="0"/>
              <a:t> Understand the behavior of numeric variables </a:t>
            </a:r>
            <a:r>
              <a:rPr lang="en-US" b="1" dirty="0"/>
              <a:t>before modeling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531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2C7D1E3D-1944-3163-0F23-D3F9863D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>
            <a:extLst>
              <a:ext uri="{FF2B5EF4-FFF2-40B4-BE49-F238E27FC236}">
                <a16:creationId xmlns:a16="http://schemas.microsoft.com/office/drawing/2014/main" id="{F1CB2912-0560-3DD3-AC11-DF68CE06286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1895" y="2095336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Numeric Variable Summaries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861824-B06E-1CFC-7B9D-D3CA4E26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93" y="2582779"/>
            <a:ext cx="5123981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B1CB5B8C-48B7-A245-A29F-EDF3CA34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B1F51EF9-49F6-1492-E8AF-1F9AF2044C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Cardinality</a:t>
            </a:r>
            <a:endParaRPr dirty="0"/>
          </a:p>
        </p:txBody>
      </p:sp>
      <p:sp>
        <p:nvSpPr>
          <p:cNvPr id="251" name="Google Shape;251;p1">
            <a:extLst>
              <a:ext uri="{FF2B5EF4-FFF2-40B4-BE49-F238E27FC236}">
                <a16:creationId xmlns:a16="http://schemas.microsoft.com/office/drawing/2014/main" id="{775EC979-5350-54BD-006E-F64C8C67AE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047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Cardinality</a:t>
            </a:r>
            <a:r>
              <a:rPr lang="en-US" dirty="0"/>
              <a:t> = number of unique levels in a categorical variable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Low cardinality:</a:t>
            </a:r>
            <a:r>
              <a:rPr lang="en-US" dirty="0"/>
              <a:t> few categories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Gender: Male, Female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High cardinality:</a:t>
            </a:r>
            <a:r>
              <a:rPr lang="en-US" dirty="0"/>
              <a:t> many categories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 err="1"/>
              <a:t>DemCluster</a:t>
            </a:r>
            <a:r>
              <a:rPr lang="en-US" dirty="0"/>
              <a:t>: 54 levels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Why does it matter?</a:t>
            </a:r>
            <a:endParaRPr lang="en-US" dirty="0"/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Dummy encoding can create </a:t>
            </a:r>
            <a:r>
              <a:rPr lang="en-US" b="1" dirty="0"/>
              <a:t>many new variables</a:t>
            </a:r>
            <a:endParaRPr lang="en-US" dirty="0"/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Increases model complexity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May lead to sparse data and overfitting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Key takeaway: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Check the number of levels </a:t>
            </a:r>
            <a:r>
              <a:rPr lang="en-US" b="1" dirty="0"/>
              <a:t>before encoding</a:t>
            </a:r>
            <a:r>
              <a:rPr lang="en-US" dirty="0"/>
              <a:t> a categorical variable.</a:t>
            </a:r>
          </a:p>
          <a:p>
            <a:pPr marL="800100" lvl="1"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351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5335EA0A-3642-334C-73C6-A9ED27A5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>
            <a:extLst>
              <a:ext uri="{FF2B5EF4-FFF2-40B4-BE49-F238E27FC236}">
                <a16:creationId xmlns:a16="http://schemas.microsoft.com/office/drawing/2014/main" id="{CAEEDC4A-B2B0-D1AE-8EF6-8F275B9957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1895" y="2095336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Model Degrees of Freedom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E0DC5-15D2-B4C7-0759-36CD0953D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93" y="2582779"/>
            <a:ext cx="5123981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8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FA8B91CB-4325-FC61-3875-84993E4B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944BBBF9-87B4-63D5-30A8-1E8A79231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Model Degrees of Freedom</a:t>
            </a:r>
            <a:endParaRPr dirty="0"/>
          </a:p>
        </p:txBody>
      </p:sp>
      <p:sp>
        <p:nvSpPr>
          <p:cNvPr id="251" name="Google Shape;251;p1">
            <a:extLst>
              <a:ext uri="{FF2B5EF4-FFF2-40B4-BE49-F238E27FC236}">
                <a16:creationId xmlns:a16="http://schemas.microsoft.com/office/drawing/2014/main" id="{9E950A5F-5619-4075-668C-60A3D577A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047" y="169068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Model Degrees of Freedom &amp; Complexity</a:t>
            </a:r>
          </a:p>
          <a:p>
            <a:pPr>
              <a:buFont typeface="Wingdings" pitchFamily="2" charset="2"/>
              <a:buChar char="q"/>
            </a:pPr>
            <a:r>
              <a:rPr lang="en-US" b="1" dirty="0"/>
              <a:t>Degrees of freedom (</a:t>
            </a:r>
            <a:r>
              <a:rPr lang="en-US" b="1" dirty="0" err="1"/>
              <a:t>df</a:t>
            </a:r>
            <a:r>
              <a:rPr lang="en-US" b="1" dirty="0"/>
              <a:t>)</a:t>
            </a:r>
            <a:r>
              <a:rPr lang="en-US" dirty="0"/>
              <a:t> ≈ number of parameters a linear model must estimate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More predictors → more parameters → </a:t>
            </a:r>
            <a:r>
              <a:rPr lang="en-US" b="1" dirty="0"/>
              <a:t>greater model complexity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Categorical variables add multiple parameters</a:t>
            </a:r>
            <a:endParaRPr lang="en-US" dirty="0"/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k categories → typically k-1 dummy variables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Example: </a:t>
            </a:r>
            <a:r>
              <a:rPr lang="en-US" dirty="0" err="1"/>
              <a:t>DemCluster</a:t>
            </a:r>
            <a:r>
              <a:rPr lang="en-US" dirty="0"/>
              <a:t> with 54 levels → </a:t>
            </a:r>
            <a:r>
              <a:rPr lang="en-US" b="1" dirty="0"/>
              <a:t>53 </a:t>
            </a:r>
            <a:r>
              <a:rPr lang="en-US" b="1" dirty="0" err="1"/>
              <a:t>df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Why does complexity matter?</a:t>
            </a:r>
            <a:endParaRPr lang="en-US" dirty="0"/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More data may be needed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Models can become harder to interpret</a:t>
            </a:r>
          </a:p>
          <a:p>
            <a:pPr marL="800100" lvl="1">
              <a:buFont typeface="Wingdings" pitchFamily="2" charset="2"/>
              <a:buChar char="q"/>
            </a:pPr>
            <a:r>
              <a:rPr lang="en-US" dirty="0"/>
              <a:t>Too much complexity can increase </a:t>
            </a:r>
            <a:r>
              <a:rPr lang="en-US" b="1" dirty="0"/>
              <a:t>overfitting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b="1" dirty="0"/>
              <a:t>Key takeaway: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More variables are not always better—balance predictive information with model complexity.</a:t>
            </a:r>
          </a:p>
        </p:txBody>
      </p:sp>
    </p:spTree>
    <p:extLst>
      <p:ext uri="{BB962C8B-B14F-4D97-AF65-F5344CB8AC3E}">
        <p14:creationId xmlns:p14="http://schemas.microsoft.com/office/powerpoint/2010/main" val="3869260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A5CE01C1-486C-7F79-5024-1FCF45DA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>
            <a:extLst>
              <a:ext uri="{FF2B5EF4-FFF2-40B4-BE49-F238E27FC236}">
                <a16:creationId xmlns:a16="http://schemas.microsoft.com/office/drawing/2014/main" id="{AE07CE98-961A-ECFA-8D8C-9BC215F8CEF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1895" y="2095336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Relationships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544CB-86CD-6717-DEE8-4E7BBB70A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93" y="2582779"/>
            <a:ext cx="5123981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35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AE5FAC30-C8E3-7C32-D4AE-37BA4C2D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46F54946-215E-2262-5DE9-D8D713FBE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Model Degrees of Freedom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5A877E-03CB-6778-277B-61C49AB9D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007844"/>
              </p:ext>
            </p:extLst>
          </p:nvPr>
        </p:nvGraphicFramePr>
        <p:xfrm>
          <a:off x="911772" y="1965960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803737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109076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638200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Variable Types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What to Examine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Useful Tools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29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Numeric ↔ Numeric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Direction, strength, unusual patterns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Scatterplot, correlation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012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Numeric ↔ Categorical Target</a:t>
                      </a:r>
                      <a:endParaRPr 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Differences across groups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Boxplots, grouped means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48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Categorical ↔ Categorical Target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Association between categories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Cross-tabulation, proportion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50035"/>
                  </a:ext>
                </a:extLst>
              </a:tr>
            </a:tbl>
          </a:graphicData>
        </a:graphic>
      </p:graphicFrame>
      <p:pic>
        <p:nvPicPr>
          <p:cNvPr id="4" name="Picture 3" descr="A graph of a donation&#10;&#10;Description automatically generated with medium confidence">
            <a:extLst>
              <a:ext uri="{FF2B5EF4-FFF2-40B4-BE49-F238E27FC236}">
                <a16:creationId xmlns:a16="http://schemas.microsoft.com/office/drawing/2014/main" id="{B00A7184-C94E-2FFA-98A5-BF9EB798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72" y="3868436"/>
            <a:ext cx="7772400" cy="24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27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218AF902-D60E-E039-83F7-4F183423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>
            <a:extLst>
              <a:ext uri="{FF2B5EF4-FFF2-40B4-BE49-F238E27FC236}">
                <a16:creationId xmlns:a16="http://schemas.microsoft.com/office/drawing/2014/main" id="{55D92059-A931-B68B-CB2B-C0B964C79F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21895" y="2095336"/>
            <a:ext cx="11117179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/>
              <a:t>Automated EDA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D5882-04ED-515A-FDCD-FC6AF5ED5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93" y="2582779"/>
            <a:ext cx="5123981" cy="502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59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Automated EDA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924838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Modules: </a:t>
            </a:r>
            <a:r>
              <a:rPr lang="en-US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pandas_profiling,AutoViz,summarytools</a:t>
            </a:r>
            <a:endParaRPr lang="en-US" b="0" dirty="0">
              <a:solidFill>
                <a:srgbClr val="00108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en-US" dirty="0"/>
          </a:p>
        </p:txBody>
      </p:sp>
      <p:pic>
        <p:nvPicPr>
          <p:cNvPr id="5122" name="Picture 2" descr="Sweetviz: Automated EDA in Python | by Himanshu Sharma | Towards Data  Science">
            <a:extLst>
              <a:ext uri="{FF2B5EF4-FFF2-40B4-BE49-F238E27FC236}">
                <a16:creationId xmlns:a16="http://schemas.microsoft.com/office/drawing/2014/main" id="{B3A8D0C0-581B-4B3B-90BD-45CCBFDC9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527" y="2586793"/>
            <a:ext cx="7956884" cy="36893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93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>
            <a:spLocks noGrp="1"/>
          </p:cNvSpPr>
          <p:nvPr>
            <p:ph type="ctrTitle"/>
          </p:nvPr>
        </p:nvSpPr>
        <p:spPr>
          <a:xfrm>
            <a:off x="1524000" y="2971059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Roboto Slab"/>
              <a:buNone/>
            </a:pPr>
            <a:r>
              <a:rPr lang="en-US" dirty="0"/>
              <a:t>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0969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C41230"/>
      </a:dk1>
      <a:lt1>
        <a:srgbClr val="FAF9F7"/>
      </a:lt1>
      <a:dk2>
        <a:srgbClr val="C41230"/>
      </a:dk2>
      <a:lt2>
        <a:srgbClr val="FAF9F7"/>
      </a:lt2>
      <a:accent1>
        <a:srgbClr val="ECEDE2"/>
      </a:accent1>
      <a:accent2>
        <a:srgbClr val="941728"/>
      </a:accent2>
      <a:accent3>
        <a:srgbClr val="007B89"/>
      </a:accent3>
      <a:accent4>
        <a:srgbClr val="000000"/>
      </a:accent4>
      <a:accent5>
        <a:srgbClr val="262626"/>
      </a:accent5>
      <a:accent6>
        <a:srgbClr val="FFFFFF"/>
      </a:accent6>
      <a:hlink>
        <a:srgbClr val="007B89"/>
      </a:hlink>
      <a:folHlink>
        <a:srgbClr val="9417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6711</TotalTime>
  <Words>1076</Words>
  <Application>Microsoft Macintosh PowerPoint</Application>
  <PresentationFormat>Widescreen</PresentationFormat>
  <Paragraphs>142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Lato</vt:lpstr>
      <vt:lpstr>Lato Light</vt:lpstr>
      <vt:lpstr>Roboto Slab</vt:lpstr>
      <vt:lpstr>Wingdings</vt:lpstr>
      <vt:lpstr>Courier New</vt:lpstr>
      <vt:lpstr>Office Theme</vt:lpstr>
      <vt:lpstr>Module 2</vt:lpstr>
      <vt:lpstr>EDA – Summaries and Basic Plots</vt:lpstr>
      <vt:lpstr>Purpose of Exploratory Data Analysis</vt:lpstr>
      <vt:lpstr>Purpose of Exploratory Data Analysis</vt:lpstr>
      <vt:lpstr>Veterans Data</vt:lpstr>
      <vt:lpstr>Veterans Data</vt:lpstr>
      <vt:lpstr>Correcting Variable Types</vt:lpstr>
      <vt:lpstr>Variable Types Check</vt:lpstr>
      <vt:lpstr>Outliers / Anomalies</vt:lpstr>
      <vt:lpstr>Numeric Variable Summaries</vt:lpstr>
      <vt:lpstr>Summaries of Numeric Variables</vt:lpstr>
      <vt:lpstr>Numeric Variable Summaries</vt:lpstr>
      <vt:lpstr>Cardinality</vt:lpstr>
      <vt:lpstr>Model Degrees of Freedom</vt:lpstr>
      <vt:lpstr>Model Degrees of Freedom</vt:lpstr>
      <vt:lpstr>Relationships</vt:lpstr>
      <vt:lpstr>Model Degrees of Freedom</vt:lpstr>
      <vt:lpstr>Automated EDA</vt:lpstr>
      <vt:lpstr>Automated EDA</vt:lpstr>
      <vt:lpstr>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</dc:title>
  <dc:creator>Orians, A.J.</dc:creator>
  <cp:lastModifiedBy>Martinez, Waldyn Gerardo</cp:lastModifiedBy>
  <cp:revision>117</cp:revision>
  <dcterms:modified xsi:type="dcterms:W3CDTF">2026-09-14T02:10:20Z</dcterms:modified>
</cp:coreProperties>
</file>