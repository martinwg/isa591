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301" r:id="rId2"/>
    <p:sldId id="265" r:id="rId3"/>
    <p:sldId id="417" r:id="rId4"/>
    <p:sldId id="442" r:id="rId5"/>
    <p:sldId id="444" r:id="rId6"/>
    <p:sldId id="445" r:id="rId7"/>
    <p:sldId id="443" r:id="rId8"/>
    <p:sldId id="428" r:id="rId9"/>
    <p:sldId id="448" r:id="rId10"/>
    <p:sldId id="447" r:id="rId11"/>
    <p:sldId id="446" r:id="rId12"/>
    <p:sldId id="449" r:id="rId13"/>
    <p:sldId id="450" r:id="rId14"/>
    <p:sldId id="451" r:id="rId15"/>
    <p:sldId id="452" r:id="rId16"/>
    <p:sldId id="436" r:id="rId17"/>
    <p:sldId id="437" r:id="rId18"/>
    <p:sldId id="453" r:id="rId19"/>
    <p:sldId id="438" r:id="rId20"/>
    <p:sldId id="439" r:id="rId21"/>
    <p:sldId id="440" r:id="rId22"/>
    <p:sldId id="441" r:id="rId23"/>
    <p:sldId id="454" r:id="rId24"/>
    <p:sldId id="455" r:id="rId25"/>
    <p:sldId id="456" r:id="rId26"/>
    <p:sldId id="457" r:id="rId27"/>
    <p:sldId id="458" r:id="rId28"/>
    <p:sldId id="459" r:id="rId29"/>
    <p:sldId id="460" r:id="rId30"/>
    <p:sldId id="461" r:id="rId31"/>
  </p:sldIdLst>
  <p:sldSz cx="12192000" cy="6858000"/>
  <p:notesSz cx="6858000" cy="9144000"/>
  <p:embeddedFontLst>
    <p:embeddedFont>
      <p:font typeface="Lato" panose="020F0502020204030203" pitchFamily="34" charset="0"/>
      <p:regular r:id="rId33"/>
      <p:bold r:id="rId34"/>
      <p:italic r:id="rId35"/>
      <p:boldItalic r:id="rId36"/>
    </p:embeddedFont>
    <p:embeddedFont>
      <p:font typeface="Lato Light" panose="020F0302020204030204" pitchFamily="34" charset="0"/>
      <p:regular r:id="rId37"/>
      <p:bold r:id="rId38"/>
      <p:italic r:id="rId39"/>
      <p:boldItalic r:id="rId40"/>
    </p:embeddedFont>
    <p:embeddedFont>
      <p:font typeface="Roboto Slab" pitchFamily="2" charset="0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1" roundtripDataSignature="AMtx7mh8+V1nZDCJuCgwzr3Qy4UygyyS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47C074C-A82D-4799-AD4D-ECD6B58B4DEF}">
  <a:tblStyle styleId="{947C074C-A82D-4799-AD4D-ECD6B58B4DEF}" styleName="Table_0">
    <a:wholeTbl>
      <a:tcTxStyle b="off" i="off">
        <a:font>
          <a:latin typeface="Lato Light"/>
          <a:ea typeface="Lato Light"/>
          <a:cs typeface="Lato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5E6E7"/>
          </a:solidFill>
        </a:fill>
      </a:tcStyle>
    </a:wholeTbl>
    <a:band1H>
      <a:tcTxStyle/>
      <a:tcStyle>
        <a:tcBdr/>
        <a:fill>
          <a:solidFill>
            <a:srgbClr val="EAC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AC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61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6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section headers to chunk content in your presentation.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the same style of section header throughout your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0407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2294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9269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990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7765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898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7332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8500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6868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4835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88882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section headers to chunk content in your presentation.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the same style of section header throughout your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04075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22947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54419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92204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73327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36092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97195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65620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803426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section headers to chunk content in your presentation.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the same style of section header throughout your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04075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22947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92692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9905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54345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77650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7332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6"/>
          <p:cNvSpPr/>
          <p:nvPr/>
        </p:nvSpPr>
        <p:spPr>
          <a:xfrm>
            <a:off x="156308" y="164123"/>
            <a:ext cx="11871569" cy="655735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" name="Google Shape;13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_White">
  <p:cSld name="6_Title Slide_Whit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4"/>
          <p:cNvSpPr txBox="1">
            <a:spLocks noGrp="1"/>
          </p:cNvSpPr>
          <p:nvPr>
            <p:ph type="ctrTitle"/>
          </p:nvPr>
        </p:nvSpPr>
        <p:spPr>
          <a:xfrm>
            <a:off x="1524000" y="2618133"/>
            <a:ext cx="9144000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 b="0"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4"/>
          <p:cNvSpPr txBox="1">
            <a:spLocks noGrp="1"/>
          </p:cNvSpPr>
          <p:nvPr>
            <p:ph type="subTitle" idx="1"/>
          </p:nvPr>
        </p:nvSpPr>
        <p:spPr>
          <a:xfrm>
            <a:off x="1524000" y="423505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0" name="Google Shape;60;p54"/>
          <p:cNvSpPr/>
          <p:nvPr/>
        </p:nvSpPr>
        <p:spPr>
          <a:xfrm>
            <a:off x="156308" y="164123"/>
            <a:ext cx="11871569" cy="65573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61" name="Google Shape;61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4092" y="1369995"/>
            <a:ext cx="1016000" cy="1109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_Red">
  <p:cSld name="2_Section Header_Red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4" name="Google Shape;144;p6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Roboto Slab"/>
              <a:buNone/>
              <a:defRPr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6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2000"/>
              <a:buNone/>
              <a:defRPr sz="2000">
                <a:solidFill>
                  <a:srgbClr val="D5888C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800"/>
              <a:buNone/>
              <a:defRPr sz="1800">
                <a:solidFill>
                  <a:srgbClr val="D5888C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68"/>
          <p:cNvSpPr/>
          <p:nvPr/>
        </p:nvSpPr>
        <p:spPr>
          <a:xfrm>
            <a:off x="156308" y="164123"/>
            <a:ext cx="11871569" cy="6557352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_Red">
  <p:cSld name="8_Title Slide_Red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0" name="Google Shape;70;p56"/>
          <p:cNvSpPr txBox="1">
            <a:spLocks noGrp="1"/>
          </p:cNvSpPr>
          <p:nvPr>
            <p:ph type="ctrTitle"/>
          </p:nvPr>
        </p:nvSpPr>
        <p:spPr>
          <a:xfrm>
            <a:off x="1524000" y="2618133"/>
            <a:ext cx="9144000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Roboto Slab"/>
              <a:buNone/>
              <a:defRPr sz="4800" b="0">
                <a:solidFill>
                  <a:schemeClr val="accent6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6"/>
          <p:cNvSpPr txBox="1">
            <a:spLocks noGrp="1"/>
          </p:cNvSpPr>
          <p:nvPr>
            <p:ph type="subTitle" idx="1"/>
          </p:nvPr>
        </p:nvSpPr>
        <p:spPr>
          <a:xfrm>
            <a:off x="1524000" y="423505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2" name="Google Shape;72;p56"/>
          <p:cNvSpPr/>
          <p:nvPr/>
        </p:nvSpPr>
        <p:spPr>
          <a:xfrm>
            <a:off x="156308" y="164123"/>
            <a:ext cx="11871569" cy="6557352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73" name="Google Shape;73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6953" y="1421961"/>
            <a:ext cx="750278" cy="10572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3380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  <a:defRPr sz="44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8" name="Google Shape;8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9" name="Google Shape;9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0" name="Google Shape;10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71" r:id="rId3"/>
    <p:sldLayoutId id="214748367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Roboto Slab"/>
              <a:buNone/>
            </a:pPr>
            <a:r>
              <a:rPr lang="en-US" dirty="0"/>
              <a:t>Module 2</a:t>
            </a:r>
            <a:endParaRPr dirty="0"/>
          </a:p>
        </p:txBody>
      </p:sp>
      <p:sp>
        <p:nvSpPr>
          <p:cNvPr id="407" name="Google Shape;407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Exploratory Data Analysis (EDA)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FD9405-87A7-F83C-5789-BC0A8AB58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" y="998306"/>
            <a:ext cx="17145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92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 txBox="1">
            <a:spLocks noGrp="1"/>
          </p:cNvSpPr>
          <p:nvPr>
            <p:ph type="ctrTitle"/>
          </p:nvPr>
        </p:nvSpPr>
        <p:spPr>
          <a:xfrm>
            <a:off x="176462" y="2571755"/>
            <a:ext cx="11839074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</a:pPr>
            <a:r>
              <a:rPr lang="en-US" dirty="0"/>
              <a:t>EDA – Missing Values, Transformations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E2038B-BB8E-4AF4-8ACC-AE26C6114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120" y="4447078"/>
            <a:ext cx="4869759" cy="22916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Missing Values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Missing values can be problematic with any model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Models generally assume no missing values in any variable</a:t>
            </a:r>
          </a:p>
        </p:txBody>
      </p:sp>
      <p:pic>
        <p:nvPicPr>
          <p:cNvPr id="5" name="Picture 2" descr="Methods for handling missing values | Azure AI Gallery">
            <a:extLst>
              <a:ext uri="{FF2B5EF4-FFF2-40B4-BE49-F238E27FC236}">
                <a16:creationId xmlns:a16="http://schemas.microsoft.com/office/drawing/2014/main" id="{985A7FC3-ACA4-4DB9-8812-23B6AFA9F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536" y="2951920"/>
            <a:ext cx="6472567" cy="349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74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Checking for Missing Values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It is important to get a summary of missing values per variable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89AAE1-71D8-4CED-8714-F38D07A74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293" y="2350256"/>
            <a:ext cx="2158264" cy="43513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66760D-4E37-4F9D-AF0C-E810F3F232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701"/>
          <a:stretch/>
        </p:blipFill>
        <p:spPr>
          <a:xfrm>
            <a:off x="3315126" y="2318721"/>
            <a:ext cx="3038657" cy="41009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5B4969-3C5F-48C0-93E7-76633EDA3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4353" y="2350256"/>
            <a:ext cx="4414701" cy="288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188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Imputation of Numeric Variables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Imputing means replacing missing value with an estimate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Common numeric estimates are the mean and median</a:t>
            </a:r>
          </a:p>
        </p:txBody>
      </p:sp>
      <p:pic>
        <p:nvPicPr>
          <p:cNvPr id="2050" name="Picture 2" descr="Feature Engineering Part-1 Mean/ Median Imputation. | by Arun Amballa |  Analytics Vidhya | Medium">
            <a:extLst>
              <a:ext uri="{FF2B5EF4-FFF2-40B4-BE49-F238E27FC236}">
                <a16:creationId xmlns:a16="http://schemas.microsoft.com/office/drawing/2014/main" id="{8CBDC6B2-D028-4488-A283-738F655396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8" t="17029" r="23044"/>
          <a:stretch/>
        </p:blipFill>
        <p:spPr bwMode="auto">
          <a:xfrm>
            <a:off x="838200" y="2709390"/>
            <a:ext cx="4689160" cy="3783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4B7DF1-AF44-4DD6-A223-6E1C57079886}"/>
              </a:ext>
            </a:extLst>
          </p:cNvPr>
          <p:cNvSpPr txBox="1"/>
          <p:nvPr/>
        </p:nvSpPr>
        <p:spPr>
          <a:xfrm>
            <a:off x="6096000" y="2736502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dk1"/>
                </a:solidFill>
                <a:latin typeface="Lato Light"/>
                <a:sym typeface="Lato Light"/>
              </a:rPr>
              <a:t>Mean Imputation</a:t>
            </a:r>
          </a:p>
          <a:p>
            <a:r>
              <a:rPr lang="en-US" sz="2800" dirty="0">
                <a:solidFill>
                  <a:schemeClr val="dk1"/>
                </a:solidFill>
                <a:latin typeface="Lato Light"/>
                <a:sym typeface="Lato Light"/>
              </a:rPr>
              <a:t>Median Imputation</a:t>
            </a:r>
          </a:p>
          <a:p>
            <a:r>
              <a:rPr lang="en-US" sz="2800" dirty="0">
                <a:solidFill>
                  <a:schemeClr val="dk1"/>
                </a:solidFill>
                <a:latin typeface="Lato Light"/>
                <a:sym typeface="Lato Light"/>
              </a:rPr>
              <a:t>Model-Based Imputation</a:t>
            </a:r>
          </a:p>
        </p:txBody>
      </p:sp>
    </p:spTree>
    <p:extLst>
      <p:ext uri="{BB962C8B-B14F-4D97-AF65-F5344CB8AC3E}">
        <p14:creationId xmlns:p14="http://schemas.microsoft.com/office/powerpoint/2010/main" val="516872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Imputation of Categorical Variables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Categorical variables can be imputed with the mode or new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4B7DF1-AF44-4DD6-A223-6E1C57079886}"/>
              </a:ext>
            </a:extLst>
          </p:cNvPr>
          <p:cNvSpPr txBox="1"/>
          <p:nvPr/>
        </p:nvSpPr>
        <p:spPr>
          <a:xfrm>
            <a:off x="6096000" y="2736502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dk1"/>
                </a:solidFill>
                <a:latin typeface="Lato Light"/>
                <a:sym typeface="Lato Light"/>
              </a:rPr>
              <a:t>Mode Imputation</a:t>
            </a:r>
          </a:p>
          <a:p>
            <a:r>
              <a:rPr lang="en-US" sz="2800" dirty="0">
                <a:solidFill>
                  <a:schemeClr val="dk1"/>
                </a:solidFill>
                <a:latin typeface="Lato Light"/>
                <a:sym typeface="Lato Light"/>
              </a:rPr>
              <a:t>Imputing with new level “missing”</a:t>
            </a:r>
          </a:p>
        </p:txBody>
      </p:sp>
      <p:pic>
        <p:nvPicPr>
          <p:cNvPr id="3074" name="Picture 2" descr="Frequent Category Imputation (Missing Data Imputation Technique) | by Kunal  Makwana | Geek Culture | Medium">
            <a:extLst>
              <a:ext uri="{FF2B5EF4-FFF2-40B4-BE49-F238E27FC236}">
                <a16:creationId xmlns:a16="http://schemas.microsoft.com/office/drawing/2014/main" id="{B712146A-87D8-47B0-B4F6-03AEC23DB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77" y="2590729"/>
            <a:ext cx="5495331" cy="412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800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Missing Value Indicator Variables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It is a dummy variable {0,1} that shows when missing imputed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8EC412-2368-F64A-2EBA-62D65B7C7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034" y="2459551"/>
            <a:ext cx="5924792" cy="412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801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 txBox="1">
            <a:spLocks noGrp="1"/>
          </p:cNvSpPr>
          <p:nvPr>
            <p:ph type="ctrTitle"/>
          </p:nvPr>
        </p:nvSpPr>
        <p:spPr>
          <a:xfrm>
            <a:off x="1524000" y="2971059"/>
            <a:ext cx="9144000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Roboto Slab"/>
              <a:buNone/>
            </a:pPr>
            <a:r>
              <a:rPr lang="en-US" dirty="0"/>
              <a:t>Python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0969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Unusual Values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Unusual values and outliers affect model performance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We should check for these in EDA</a:t>
            </a:r>
          </a:p>
        </p:txBody>
      </p:sp>
      <p:pic>
        <p:nvPicPr>
          <p:cNvPr id="7170" name="Picture 2" descr="Too much outside the box - Outliers and Boxplots – Paul Julian II, PhD –  Ecologist, Wetland Biogeochemist, Data-scientist, lover of Rstats.">
            <a:extLst>
              <a:ext uri="{FF2B5EF4-FFF2-40B4-BE49-F238E27FC236}">
                <a16:creationId xmlns:a16="http://schemas.microsoft.com/office/drawing/2014/main" id="{B55EDD00-F839-4297-99FE-80D76B632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88445"/>
            <a:ext cx="6042867" cy="3323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9514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Unusual Values</a:t>
            </a:r>
            <a:endParaRPr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06560A8-FA19-4A0E-9F12-315FDDD92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278" y="1690688"/>
            <a:ext cx="6294268" cy="488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398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Transformations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A way to make the data work better in your model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Particularly helpful in logistic regression and neural networks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4098" name="Picture 2" descr="Transformation—ArcGIS Pro | Documentation">
            <a:extLst>
              <a:ext uri="{FF2B5EF4-FFF2-40B4-BE49-F238E27FC236}">
                <a16:creationId xmlns:a16="http://schemas.microsoft.com/office/drawing/2014/main" id="{EFC8D77C-2B3E-4D1A-B3D0-7FB14DE58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257" y="3092242"/>
            <a:ext cx="4504307" cy="34089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2742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 txBox="1">
            <a:spLocks noGrp="1"/>
          </p:cNvSpPr>
          <p:nvPr>
            <p:ph type="ctrTitle"/>
          </p:nvPr>
        </p:nvSpPr>
        <p:spPr>
          <a:xfrm>
            <a:off x="1524000" y="2971059"/>
            <a:ext cx="9144000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Roboto Slab"/>
              <a:buNone/>
            </a:pPr>
            <a:r>
              <a:rPr lang="en-US" dirty="0"/>
              <a:t>Python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4388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Roboto Slab"/>
              <a:buNone/>
            </a:pPr>
            <a:r>
              <a:rPr lang="en-US" dirty="0"/>
              <a:t>Module 2</a:t>
            </a:r>
            <a:endParaRPr dirty="0"/>
          </a:p>
        </p:txBody>
      </p:sp>
      <p:sp>
        <p:nvSpPr>
          <p:cNvPr id="407" name="Google Shape;407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Exploratory Data Analysis (EDA)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FD9405-87A7-F83C-5789-BC0A8AB58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" y="998306"/>
            <a:ext cx="17145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29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 txBox="1">
            <a:spLocks noGrp="1"/>
          </p:cNvSpPr>
          <p:nvPr>
            <p:ph type="ctrTitle"/>
          </p:nvPr>
        </p:nvSpPr>
        <p:spPr>
          <a:xfrm>
            <a:off x="352927" y="2095336"/>
            <a:ext cx="11486148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</a:pPr>
            <a:r>
              <a:rPr lang="en-US" dirty="0"/>
              <a:t>EDA – Encoding Categorical Variables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1E8953-686F-4559-84CD-A28F81DAF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521" y="3628309"/>
            <a:ext cx="2670509" cy="26705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Encoding Categorical Variables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We have to encode categorical variables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Before building models all variables must be numerically encoded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We need to fix first incorrect variable types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BE5946-6667-4B6C-8504-F5D63B0F2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37" y="3429000"/>
            <a:ext cx="3140242" cy="314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023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Encoding Categorical Variables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Which variables are incorrect types (if any)?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E93C4A-8125-4B0A-976D-0CCBA7C2B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48" y="2415528"/>
            <a:ext cx="4320504" cy="40306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F1B3B0-96B9-41BE-920D-4E65E0E86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636" y="3429000"/>
            <a:ext cx="5772150" cy="11811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71E1BB-3CCF-46BE-B764-8373442F6096}"/>
              </a:ext>
            </a:extLst>
          </p:cNvPr>
          <p:cNvSpPr txBox="1"/>
          <p:nvPr/>
        </p:nvSpPr>
        <p:spPr>
          <a:xfrm>
            <a:off x="7438768" y="2866302"/>
            <a:ext cx="218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Object to Float</a:t>
            </a:r>
          </a:p>
        </p:txBody>
      </p:sp>
    </p:spTree>
    <p:extLst>
      <p:ext uri="{BB962C8B-B14F-4D97-AF65-F5344CB8AC3E}">
        <p14:creationId xmlns:p14="http://schemas.microsoft.com/office/powerpoint/2010/main" val="3754450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Encoding Categorical Variables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Which variables are incorrect types (if any)?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71E1BB-3CCF-46BE-B764-8373442F6096}"/>
              </a:ext>
            </a:extLst>
          </p:cNvPr>
          <p:cNvSpPr txBox="1"/>
          <p:nvPr/>
        </p:nvSpPr>
        <p:spPr>
          <a:xfrm>
            <a:off x="2513841" y="4610112"/>
            <a:ext cx="2117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Int64 to object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F1AEB0-C2E0-45D5-AF2A-DC526F27D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73" y="5172810"/>
            <a:ext cx="5772150" cy="14573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D502AE-6661-4206-A0B0-4D4BE96E8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73" y="2577544"/>
            <a:ext cx="4765143" cy="202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113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 txBox="1">
            <a:spLocks noGrp="1"/>
          </p:cNvSpPr>
          <p:nvPr>
            <p:ph type="ctrTitle"/>
          </p:nvPr>
        </p:nvSpPr>
        <p:spPr>
          <a:xfrm>
            <a:off x="1524000" y="2971059"/>
            <a:ext cx="9144000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Roboto Slab"/>
              <a:buNone/>
            </a:pPr>
            <a:r>
              <a:rPr lang="en-US" dirty="0"/>
              <a:t>Python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6215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Dummy-Encoding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Used when the number of levels is not excessive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The </a:t>
            </a:r>
            <a:r>
              <a:rPr lang="en-US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pd.get_dummies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US" dirty="0"/>
              <a:t> function is useful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§"/>
            </a:pPr>
            <a:r>
              <a:rPr lang="en-US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drop_first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 = True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5" name="Picture 2" descr="Encoding Categorical Variables: One-hot vs Dummy Encoding | by Rukshan  Pramoditha | Towards Data Science">
            <a:extLst>
              <a:ext uri="{FF2B5EF4-FFF2-40B4-BE49-F238E27FC236}">
                <a16:creationId xmlns:a16="http://schemas.microsoft.com/office/drawing/2014/main" id="{FC470075-EEC5-4234-9163-B164AA178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537" y="3429000"/>
            <a:ext cx="5926554" cy="2488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5270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Label-Encoding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Used for ordinal-type variables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Used for categorical variables with many levels 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6" name="Picture 2" descr="Categorical encoding using Label-Encoding and One-Hot-Encoder | by Dinesh  Yadav | Towards Data Science">
            <a:extLst>
              <a:ext uri="{FF2B5EF4-FFF2-40B4-BE49-F238E27FC236}">
                <a16:creationId xmlns:a16="http://schemas.microsoft.com/office/drawing/2014/main" id="{81411212-0764-4A94-A04C-A1E0F49B0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874" y="3154245"/>
            <a:ext cx="4439552" cy="329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396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One-Hot Encoding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Similar to dummy-encoding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Used to indicate presence/absence of levels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Popular in Neural Networks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5" name="Picture 5" descr="Dummy Variable Definition | DeepAI">
            <a:extLst>
              <a:ext uri="{FF2B5EF4-FFF2-40B4-BE49-F238E27FC236}">
                <a16:creationId xmlns:a16="http://schemas.microsoft.com/office/drawing/2014/main" id="{E2675141-F74B-487E-8DD2-CE05A9E773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14"/>
          <a:stretch/>
        </p:blipFill>
        <p:spPr bwMode="auto">
          <a:xfrm>
            <a:off x="2470483" y="3232410"/>
            <a:ext cx="4297966" cy="3011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Dummy Variable Definition | DeepAI">
            <a:extLst>
              <a:ext uri="{FF2B5EF4-FFF2-40B4-BE49-F238E27FC236}">
                <a16:creationId xmlns:a16="http://schemas.microsoft.com/office/drawing/2014/main" id="{75F987E7-F4EF-4FA8-B5F5-637862CD2F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1" t="24303" r="81182" b="-3927"/>
          <a:stretch/>
        </p:blipFill>
        <p:spPr bwMode="auto">
          <a:xfrm>
            <a:off x="982579" y="3968656"/>
            <a:ext cx="1644317" cy="227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9838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 txBox="1">
            <a:spLocks noGrp="1"/>
          </p:cNvSpPr>
          <p:nvPr>
            <p:ph type="ctrTitle"/>
          </p:nvPr>
        </p:nvSpPr>
        <p:spPr>
          <a:xfrm>
            <a:off x="1524000" y="2971059"/>
            <a:ext cx="9144000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Roboto Slab"/>
              <a:buNone/>
            </a:pPr>
            <a:r>
              <a:rPr lang="en-US" dirty="0"/>
              <a:t>Python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7396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Roboto Slab"/>
              <a:buNone/>
            </a:pPr>
            <a:r>
              <a:rPr lang="en-US" dirty="0"/>
              <a:t>Module 2</a:t>
            </a:r>
            <a:endParaRPr dirty="0"/>
          </a:p>
        </p:txBody>
      </p:sp>
      <p:sp>
        <p:nvSpPr>
          <p:cNvPr id="407" name="Google Shape;407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Exploratory Data Analysis (EDA)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FD9405-87A7-F83C-5789-BC0A8AB58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" y="998306"/>
            <a:ext cx="17145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12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 txBox="1">
            <a:spLocks noGrp="1"/>
          </p:cNvSpPr>
          <p:nvPr>
            <p:ph type="ctrTitle"/>
          </p:nvPr>
        </p:nvSpPr>
        <p:spPr>
          <a:xfrm>
            <a:off x="176462" y="2571755"/>
            <a:ext cx="11839074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</a:pPr>
            <a:r>
              <a:rPr lang="en-US" dirty="0"/>
              <a:t>EDA – Unstructured Data</a:t>
            </a:r>
            <a:endParaRPr dirty="0"/>
          </a:p>
        </p:txBody>
      </p:sp>
      <p:pic>
        <p:nvPicPr>
          <p:cNvPr id="1026" name="Picture 2" descr="The Basics Of MySQL TEXT Data Type By Examples">
            <a:extLst>
              <a:ext uri="{FF2B5EF4-FFF2-40B4-BE49-F238E27FC236}">
                <a16:creationId xmlns:a16="http://schemas.microsoft.com/office/drawing/2014/main" id="{A6F9BD9E-B244-AA60-0779-4CA3BD363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661" y="4231497"/>
            <a:ext cx="2520677" cy="202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Text Data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We can encode text data into a vector representation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We call this vectorizing text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We convert the text into tokens (variables for our purpose)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17FAFD-7EEA-4CC0-9D58-9D49AE2AD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41" y="3305175"/>
            <a:ext cx="5816600" cy="318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98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Text Data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Two of the main ways to vectorize text data are: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Bag of Words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Term Frequency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AE5B3B-E497-5D42-C212-8E13B4181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99" y="3429000"/>
            <a:ext cx="3633073" cy="29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6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Bag of Words 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We count the number of times a given word appears on the text.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We need to look at the corpus (all text) to determine all tokens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B25E81-3BA1-9062-20F3-AFF7C692B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31" y="2911147"/>
            <a:ext cx="8965414" cy="296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9641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 txBox="1">
            <a:spLocks noGrp="1"/>
          </p:cNvSpPr>
          <p:nvPr>
            <p:ph type="ctrTitle"/>
          </p:nvPr>
        </p:nvSpPr>
        <p:spPr>
          <a:xfrm>
            <a:off x="1524000" y="2971059"/>
            <a:ext cx="9144000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Roboto Slab"/>
              <a:buNone/>
            </a:pPr>
            <a:r>
              <a:rPr lang="en-US" dirty="0"/>
              <a:t>Python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4510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Term Frequency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We use the relative frequency of a word with respect to the document</a:t>
            </a:r>
          </a:p>
        </p:txBody>
      </p:sp>
      <p:pic>
        <p:nvPicPr>
          <p:cNvPr id="2050" name="Picture 2" descr="BoW Model and TF-IDF For Creating Feature From Text">
            <a:extLst>
              <a:ext uri="{FF2B5EF4-FFF2-40B4-BE49-F238E27FC236}">
                <a16:creationId xmlns:a16="http://schemas.microsoft.com/office/drawing/2014/main" id="{5FF19CF2-B18F-1F67-5F4B-3F2ED03C6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588" y="2860675"/>
            <a:ext cx="6515100" cy="363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9768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 txBox="1">
            <a:spLocks noGrp="1"/>
          </p:cNvSpPr>
          <p:nvPr>
            <p:ph type="ctrTitle"/>
          </p:nvPr>
        </p:nvSpPr>
        <p:spPr>
          <a:xfrm>
            <a:off x="1524000" y="2971059"/>
            <a:ext cx="9144000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Roboto Slab"/>
              <a:buNone/>
            </a:pPr>
            <a:r>
              <a:rPr lang="en-US" dirty="0"/>
              <a:t>Python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6603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C41230"/>
      </a:dk1>
      <a:lt1>
        <a:srgbClr val="FAF9F7"/>
      </a:lt1>
      <a:dk2>
        <a:srgbClr val="C41230"/>
      </a:dk2>
      <a:lt2>
        <a:srgbClr val="FAF9F7"/>
      </a:lt2>
      <a:accent1>
        <a:srgbClr val="ECEDE2"/>
      </a:accent1>
      <a:accent2>
        <a:srgbClr val="941728"/>
      </a:accent2>
      <a:accent3>
        <a:srgbClr val="007B89"/>
      </a:accent3>
      <a:accent4>
        <a:srgbClr val="000000"/>
      </a:accent4>
      <a:accent5>
        <a:srgbClr val="262626"/>
      </a:accent5>
      <a:accent6>
        <a:srgbClr val="FFFFFF"/>
      </a:accent6>
      <a:hlink>
        <a:srgbClr val="007B89"/>
      </a:hlink>
      <a:folHlink>
        <a:srgbClr val="94172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11071</TotalTime>
  <Words>1114</Words>
  <Application>Microsoft Macintosh PowerPoint</Application>
  <PresentationFormat>Widescreen</PresentationFormat>
  <Paragraphs>130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Lato</vt:lpstr>
      <vt:lpstr>Lato Light</vt:lpstr>
      <vt:lpstr>Roboto Slab</vt:lpstr>
      <vt:lpstr>Wingdings</vt:lpstr>
      <vt:lpstr>Courier New</vt:lpstr>
      <vt:lpstr>Office Theme</vt:lpstr>
      <vt:lpstr>Module 2</vt:lpstr>
      <vt:lpstr>EDA – Missing Values, Transformations</vt:lpstr>
      <vt:lpstr>Missing Values</vt:lpstr>
      <vt:lpstr>Checking for Missing Values</vt:lpstr>
      <vt:lpstr>Imputation of Numeric Variables</vt:lpstr>
      <vt:lpstr>Imputation of Categorical Variables</vt:lpstr>
      <vt:lpstr>Missing Value Indicator Variables</vt:lpstr>
      <vt:lpstr>Python</vt:lpstr>
      <vt:lpstr>Unusual Values</vt:lpstr>
      <vt:lpstr>Unusual Values</vt:lpstr>
      <vt:lpstr>Transformations</vt:lpstr>
      <vt:lpstr>Python</vt:lpstr>
      <vt:lpstr>Module 2</vt:lpstr>
      <vt:lpstr>EDA – Encoding Categorical Variables</vt:lpstr>
      <vt:lpstr>Encoding Categorical Variables</vt:lpstr>
      <vt:lpstr>Encoding Categorical Variables</vt:lpstr>
      <vt:lpstr>Encoding Categorical Variables</vt:lpstr>
      <vt:lpstr>Python</vt:lpstr>
      <vt:lpstr>Dummy-Encoding</vt:lpstr>
      <vt:lpstr>Label-Encoding</vt:lpstr>
      <vt:lpstr>One-Hot Encoding</vt:lpstr>
      <vt:lpstr>Python</vt:lpstr>
      <vt:lpstr>Module 2</vt:lpstr>
      <vt:lpstr>EDA – Unstructured Data</vt:lpstr>
      <vt:lpstr>Text Data</vt:lpstr>
      <vt:lpstr>Text Data</vt:lpstr>
      <vt:lpstr>Bag of Words </vt:lpstr>
      <vt:lpstr>Python</vt:lpstr>
      <vt:lpstr>Term Frequency</vt:lpstr>
      <vt:lpstr>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</dc:title>
  <dc:creator>Orians, A.J.</dc:creator>
  <cp:lastModifiedBy>Martinez, Waldyn Gerardo</cp:lastModifiedBy>
  <cp:revision>131</cp:revision>
  <dcterms:modified xsi:type="dcterms:W3CDTF">2026-09-16T01:31:34Z</dcterms:modified>
</cp:coreProperties>
</file>